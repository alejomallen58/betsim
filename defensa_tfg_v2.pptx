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22860" cy="5143500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502920"/>
            <a:ext cx="2377440" cy="292608"/>
          </a:xfrm>
          <a:prstGeom prst="roundRect">
            <a:avLst>
              <a:gd name="adj" fmla="val 15625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029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FORMATIVO · DAW · 2025 –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960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BetSim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17556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de Simulación de Apuestas Deportivas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487168"/>
            <a:ext cx="41148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Alejo Segura Cerdan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021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Paradela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38862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0782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 Río Arba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903720" y="1627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 integradas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224028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2286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03720" y="2770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Competiciones reales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338328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3429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03720" y="39136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Laravel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841248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97280"/>
            <a:ext cx="594360" cy="566928"/>
          </a:xfrm>
          <a:prstGeom prst="rect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Motivación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841248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594360" cy="566928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1051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81051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Tecnologías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2523744"/>
            <a:ext cx="841248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523744"/>
            <a:ext cx="594360" cy="566928"/>
          </a:xfrm>
          <a:prstGeom prst="rect">
            <a:avLst/>
          </a:prstGeom>
          <a:solidFill>
            <a:srgbClr val="A78BFA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52374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523744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Arquitectura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11480" y="3236976"/>
            <a:ext cx="841248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236976"/>
            <a:ext cx="594360" cy="566928"/>
          </a:xfrm>
          <a:prstGeom prst="rect">
            <a:avLst/>
          </a:prstGeom>
          <a:solidFill>
            <a:srgbClr val="FBBF24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3697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3236976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950208"/>
            <a:ext cx="8412480" cy="56692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950208"/>
            <a:ext cx="594360" cy="566928"/>
          </a:xfrm>
          <a:prstGeom prst="rect">
            <a:avLst/>
          </a:prstGeom>
          <a:solidFill>
            <a:srgbClr val="F87171">
              <a:alpha val="15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5020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7280" y="395020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Conclusiones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Contexto y Motivación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800M€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399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apuestas online en España (2023)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40280" y="86868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18-35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40280" y="1399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 de edad más activo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86868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914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0" y="139903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educativas de simulación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393192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1762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57860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Plataformas reales implican riesgo económico real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990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existen simuladores educativos gratuitos y completos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40156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 "fantasy sports" no simulan cuotas reales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813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Difícil estudiar el comportamiento del mercado de apuestas de forma segura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057400"/>
            <a:ext cx="4526280" cy="2560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176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BetSim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25786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Saldo virtual: cero riesgo económico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9900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Datos reales via APIs externas (fútbol + NBA)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4015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Motor de cuotas funcional (1/X/2)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8130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Resolución automática de apuestas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42245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Panel de administración completo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Objetivos del Proyecto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78892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" cy="1417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24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Autenticación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4173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login/registro con roles (usuario / administrador)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10128" y="914400"/>
            <a:ext cx="278892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10128" y="914400"/>
            <a:ext cx="54864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024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Base de 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14173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 normalizado: 6 tablas con FK e índices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54496" y="914400"/>
            <a:ext cx="278892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914400"/>
            <a:ext cx="54864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0241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APIs externas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4173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football-data.org (6 ligas) + TheSportsDB (NBA)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14600"/>
            <a:ext cx="278892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14600"/>
            <a:ext cx="54864" cy="1417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Motor de apuestas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0175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Validación, descuento de saldo y resolución automática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10128" y="2514600"/>
            <a:ext cx="278892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10128" y="2514600"/>
            <a:ext cx="54864" cy="14173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Panel admin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30175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partidos, equipos, usuarios y ajuste de saldo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54496" y="2514600"/>
            <a:ext cx="2788920" cy="14173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54496" y="2514600"/>
            <a:ext cx="54864" cy="1417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26243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Interfaz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19088" y="3017520"/>
            <a:ext cx="2468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responsive dark-mode sin dependencias de compilación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Stack Tecnológico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097280"/>
            <a:ext cx="135331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backend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66544" y="91440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76272" y="1097280"/>
            <a:ext cx="1353312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12801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66544" y="17556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MVC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67328" y="91440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77056" y="1097280"/>
            <a:ext cx="135331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7328" y="12801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7328" y="17556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68112" y="91440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77840" y="1097280"/>
            <a:ext cx="135331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12801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Breeze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68112" y="17556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68896" y="91440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78624" y="1097280"/>
            <a:ext cx="135331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68896" y="12801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68896" y="175564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plantillas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65176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2834640"/>
            <a:ext cx="1353312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inline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349300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sin compilación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66544" y="265176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176272" y="2834640"/>
            <a:ext cx="1353312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66544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football-data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66544" y="349300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fútbol europeo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67328" y="265176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77056" y="2834640"/>
            <a:ext cx="1353312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767328" y="349300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NBA Playoffs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68112" y="265176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577840" y="2834640"/>
            <a:ext cx="1353312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CLI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49300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personalizados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168896" y="2651760"/>
            <a:ext cx="15727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78624" y="2834640"/>
            <a:ext cx="1353312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68896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168896" y="3493008"/>
            <a:ext cx="1572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Arquitectura MVC en Laravel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37160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371600" cy="6400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routes/web.php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103120" y="96012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960120"/>
            <a:ext cx="201168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app/Http/Controllers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691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480560" y="96012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80560" y="960120"/>
            <a:ext cx="201168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app/Models / Eloquent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858000" y="960120"/>
            <a:ext cx="2011680" cy="2377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960120"/>
            <a:ext cx="201168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143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6 tablas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84124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566160"/>
            <a:ext cx="84124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307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 –  resources/views/ · Plantillas Blade (.blade.php)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41330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controlador pasa datos a la vista. La vista no contiene lógica de negocio.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33101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renderiza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Modelo Entidad–Relación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468880" cy="10607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46888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email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67335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· is_admin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17520" y="960120"/>
            <a:ext cx="2468880" cy="10607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960120"/>
            <a:ext cx="2468880" cy="34747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27248" y="132588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nombre · pais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27248" y="167335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60720" y="960120"/>
            <a:ext cx="2468880" cy="1060704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60720" y="960120"/>
            <a:ext cx="2468880" cy="347472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9601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70448" y="132588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liga_id · nombre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70448" y="167335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2651760"/>
            <a:ext cx="246888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0" y="2651760"/>
            <a:ext cx="2468880" cy="347472"/>
          </a:xfrm>
          <a:prstGeom prst="rect">
            <a:avLst/>
          </a:prstGeom>
          <a:solidFill>
            <a:srgbClr val="FBBF24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651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84448" y="301752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liga_id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84448" y="336499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equipo_local_id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84448" y="371246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equipo_visitante_id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84448" y="405993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· estado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84448" y="4407408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goles_local · goles_visitante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200400"/>
            <a:ext cx="2468880" cy="14081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200400"/>
            <a:ext cx="2468880" cy="347472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" y="35661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partido_id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91363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cuota_local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426110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cuota_empate · cuota_visitante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17920" y="3200400"/>
            <a:ext cx="2468880" cy="1408176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3200400"/>
            <a:ext cx="2468880" cy="347472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27648" y="35661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user_id · partido_id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27648" y="391363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· cantidad · cuota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27648" y="4261104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ganancia_potencial · estado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34640" y="1389888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1389888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4640" y="233172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4640" y="23317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7240" y="301752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7240" y="30175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20840" y="301752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0840" y="301752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97280" y="2468880"/>
            <a:ext cx="384048" cy="237744"/>
          </a:xfrm>
          <a:prstGeom prst="roundRect">
            <a:avLst>
              <a:gd name="adj" fmla="val 15385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97280" y="2468880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Flujo de una Apuesta – Lógica de Negocio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11155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115568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332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3990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elige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y tipo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20574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/partidos/{id}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89888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17904" y="960120"/>
            <a:ext cx="11155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17904" y="960120"/>
            <a:ext cx="11155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10332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17904" y="13990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¿Partido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17904" y="20574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= pendiente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633472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61488" y="960120"/>
            <a:ext cx="11155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61488" y="960120"/>
            <a:ext cx="11155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61488" y="10332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761488" y="13990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¿Saldo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suficiente?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61488" y="20574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user.saldo ≥ cantidad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77056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05072" y="960120"/>
            <a:ext cx="11155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05072" y="960120"/>
            <a:ext cx="1115568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5072" y="10332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005072" y="13990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¿Sin apuesta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previa?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005072" y="20574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(user_id, partido_id)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48656" y="960120"/>
            <a:ext cx="11155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48656" y="960120"/>
            <a:ext cx="11155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48656" y="10332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48656" y="13990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apuesta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descontar saldo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48656" y="20574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Apuesta::create()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64224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92240" y="960120"/>
            <a:ext cx="11155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960120"/>
            <a:ext cx="1115568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10332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92240" y="13990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registra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92240" y="20574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/admin/…/resultado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07808" y="155448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35824" y="960120"/>
            <a:ext cx="1115568" cy="15087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735824" y="960120"/>
            <a:ext cx="111556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35824" y="1033272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7735824" y="1399032"/>
            <a:ext cx="1115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todas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apuestas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735824" y="2057400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ganada / perdida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2788920"/>
            <a:ext cx="8595360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4320" y="2788920"/>
            <a:ext cx="54864" cy="1097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880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falla cualquier validación (pasos 2-4):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32461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back()-&gt;withErrors([…])  —  El saldo NO se modifica, la apuesta NO se crea.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Interfaz de Usuario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22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BetSim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822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 ·  Partidos  ·  Mis Apuestas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303520" y="822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1.000,00 €  |  Mi cuenta  |  Admin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29768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38988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partidos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764792"/>
            <a:ext cx="4078224" cy="82296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18196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Madrid vs Barcelona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112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1.80   X: 3.60   2: 4.50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17520" y="1947672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FBBF24">
              <a:alpha val="2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194767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" y="2724912"/>
            <a:ext cx="4078224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277977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 City vs Arsenal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1.70   X: 3.80   2: 5.00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2907792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FBBF24">
              <a:alpha val="20000"/>
            </a:srgbClr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90779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5488" y="3685032"/>
            <a:ext cx="4078224" cy="82296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" y="37398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Juventus vs Inter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4032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2.20   X: 3.30   2: 3.20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17520" y="3867912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3867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6320" y="1325880"/>
            <a:ext cx="3931920" cy="35204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0" y="1389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partido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56048" y="1783080"/>
            <a:ext cx="3621024" cy="8229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56048" y="1783080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Madrid  vs  FC Barcelona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56048" y="2176272"/>
            <a:ext cx="362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 · Jornada 35 · 12/06/2026 21:00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56048" y="2743200"/>
            <a:ext cx="11430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56048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1.80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956048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63056" y="2743200"/>
            <a:ext cx="11430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63056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3.60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63056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70064" y="2743200"/>
            <a:ext cx="1143000" cy="731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370064" y="2743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370064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956048" y="3639312"/>
            <a:ext cx="3621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Cantidad: [___50___]  → Ganancia: 90,00 €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56048" y="4069080"/>
            <a:ext cx="3621024" cy="475488"/>
          </a:xfrm>
          <a:prstGeom prst="rect">
            <a:avLst/>
          </a:prstGeom>
          <a:solidFill>
            <a:srgbClr val="22C55E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956048" y="4069080"/>
            <a:ext cx="36210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APOSTAR AHORA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Panel de Administración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 –  Solo accesible con is_admin = 1 (verificado en servidor)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01168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0116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Gestión de Partidos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173736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03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Crear / editar cuotas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" y="27614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Registrar resultado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0352" y="341985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 todas las apuestas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1508760"/>
            <a:ext cx="201168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50876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Importar APIs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1993392"/>
            <a:ext cx="173736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9192" y="2103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↓ football-data.org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79192" y="27614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NBA TheSportsDB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79192" y="341985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↻ Sincronizar resultados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508760"/>
            <a:ext cx="201168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508760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Usuarios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1993392"/>
            <a:ext cx="173736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103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 saldo y apuestas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28032" y="27614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+ Sumar saldo virtual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341985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– Restar saldo virtual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12280" y="1508760"/>
            <a:ext cx="2011680" cy="3246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150876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Equipos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1993392"/>
            <a:ext cx="173736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76872" y="21031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CRUD completo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76872" y="27614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Asignar a liga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76872" y="341985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Editar / eliminar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477316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 registrar el resultado, el sistema resuelve automáticamente TODAS las apuestas pendientes del partido y actualiza los saldos.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Integración con APIs Externas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411480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1148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football-data.org  v4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Autenticación: cabecera HTTP  X-Auth-Token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 Liga (España)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Premier League (Inglaterra)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5968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Serie A (Italia)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9809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Bundesliga (Alemania)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64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Champions League (Europa)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Copa del Mundo 2026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224528"/>
            <a:ext cx="3822192" cy="45720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partidos:importar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4114800" cy="39319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TheSportsDB  (libre, sin clave)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41732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Endpoint: /eventsnextleague.php?id=4387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0" y="18745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NBA Playoffs 2026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cuota de empate (99.00)</a:t>
            </a:r>
            <a:endParaRPr lang="en-US" sz="1000" dirty="0"/>
          </a:p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la naturaleza del baloncesto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4224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nba:importar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4224528"/>
            <a:ext cx="3822192" cy="45720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42245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nba:importar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24528"/>
            <a:ext cx="4114800" cy="457200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42245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partidos:resultados  (sincronizar resultados)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Resultados y Pruebas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60704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autorización por roles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868680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60704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60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86868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 normalizada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73352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65376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1673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completo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673352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865376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865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67335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 football-data.org (6 ligas)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478024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70048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4780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API TheSportsDB (NBA)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478024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2670048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670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47802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apuestas con resolución automática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282696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474720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32826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 responsive dark-mode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00600" y="3282696"/>
            <a:ext cx="420624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92040" y="3474720"/>
            <a:ext cx="292608" cy="292608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28269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(memoria + manual)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4617720"/>
            <a:ext cx="2651760" cy="438912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461772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casos de prueba funcionales  –  todos OK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0" y="4617720"/>
            <a:ext cx="2743200" cy="438912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337560" y="46177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Chrome, Firefox y Edge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4617720"/>
            <a:ext cx="2651760" cy="438912"/>
          </a:xfrm>
          <a:prstGeom prst="rect">
            <a:avLst/>
          </a:prstGeom>
          <a:solidFill>
            <a:srgbClr val="334155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263640" y="4617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objetivos sin cumplir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Conclusiones y Mejoras Futuras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67512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114800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1148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Dominio integral del stack PHP / Laravel / MySQL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Integración exitosa de dos APIs REST heterogéneas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Arquitectura MVC limpia y escalable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Resolución de problemas técnicos reales (CSS, API keys, formularios)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4381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Todos los objetivos del proyecto cumplidos al 100%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950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Código listo para ser extendido en producción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14800" cy="411480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22960"/>
            <a:ext cx="41148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Futuras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389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Apuestas combinadas (acumuladores)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847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Cuotas dinámicas según volumen de apuestas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46320" y="23042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Notificaciones en tiempo real (WebSockets)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7614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Sistema de ligas entre usuarios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2186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Pruebas automatizadas con PHPUnit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6758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Despliegue en VPS con HTTPS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413308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Dashboard de métricas para admin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321040" y="48463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22860" cy="5143500"/>
          </a:xfrm>
          <a:prstGeom prst="rect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1148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BetSim · Aplicación Web de Simulación de Apuestas Deportivas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2423160"/>
            <a:ext cx="4572000" cy="228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06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Alejo Segura Cerdan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Formativo DAW · 2025-2026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657600"/>
            <a:ext cx="438912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6576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github.com/alejomallen58/betsim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409651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· Memoria · Manual · Scripts SQL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49240" y="118872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49240" y="1719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· MVC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78040" y="118872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234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78040" y="1719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6 tablas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49240" y="233172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4924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349240" y="2862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fuentes de datos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2331720"/>
            <a:ext cx="173736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23774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178040" y="28620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+ CSS inline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37490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BetSim – Defensa TFG</dc:title>
  <dc:subject>Aplicación Web de Simulación de Apuestas Deportivas</dc:subject>
  <dc:creator>Alejo Segura Cerdan</dc:creator>
  <cp:lastModifiedBy>Alejo Segura Cerdan</cp:lastModifiedBy>
  <cp:revision>1</cp:revision>
  <dcterms:created xsi:type="dcterms:W3CDTF">2026-06-10T15:30:56Z</dcterms:created>
  <dcterms:modified xsi:type="dcterms:W3CDTF">2026-06-10T15:30:56Z</dcterms:modified>
</cp:coreProperties>
</file>